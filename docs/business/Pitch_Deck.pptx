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759c47bcf44c4" /><Relationship Type="http://schemas.openxmlformats.org/officeDocument/2006/relationships/extended-properties" Target="/docProps/app.xml" Id="Recb041a4473c489b" /><Relationship Type="http://schemas.openxmlformats.org/officeDocument/2006/relationships/officeDocument" Target="/ppt/presentation.xml" Id="R71f125822730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b98b7c86214bc2"/>
  </p:sldMasterIdLst>
  <p:notesMasterIdLst>
    <p:notesMasterId xmlns:r="http://schemas.openxmlformats.org/officeDocument/2006/relationships" r:id="Rbb5121e99326472e"/>
  </p:notesMasterIdLst>
  <p:sldIdLst>
    <p:sldId xmlns:r="http://schemas.openxmlformats.org/officeDocument/2006/relationships" id="256" r:id="R05a8846ac8c94acf"/>
    <p:sldId xmlns:r="http://schemas.openxmlformats.org/officeDocument/2006/relationships" id="257" r:id="R9369505b44d94701"/>
    <p:sldId xmlns:r="http://schemas.openxmlformats.org/officeDocument/2006/relationships" id="258" r:id="R08fdab59c74d421e"/>
    <p:sldId xmlns:r="http://schemas.openxmlformats.org/officeDocument/2006/relationships" id="259" r:id="R85c948cbddc84957"/>
    <p:sldId xmlns:r="http://schemas.openxmlformats.org/officeDocument/2006/relationships" id="260" r:id="R6d06f30c448d4505"/>
    <p:sldId xmlns:r="http://schemas.openxmlformats.org/officeDocument/2006/relationships" id="261" r:id="R3e8909b156794d61"/>
    <p:sldId xmlns:r="http://schemas.openxmlformats.org/officeDocument/2006/relationships" id="262" r:id="R5237bce53da24e7d"/>
    <p:sldId xmlns:r="http://schemas.openxmlformats.org/officeDocument/2006/relationships" id="263" r:id="R57ae8288be7e4287"/>
    <p:sldId xmlns:r="http://schemas.openxmlformats.org/officeDocument/2006/relationships" id="264" r:id="Rc7985c2d0b8e4666"/>
    <p:sldId xmlns:r="http://schemas.openxmlformats.org/officeDocument/2006/relationships" id="265" r:id="R0fa7f718dac74f5e"/>
    <p:sldId xmlns:r="http://schemas.openxmlformats.org/officeDocument/2006/relationships" id="266" r:id="Ra92968a02b5d4ecb"/>
    <p:sldId xmlns:r="http://schemas.openxmlformats.org/officeDocument/2006/relationships" id="267" r:id="R25a0c151db22451b"/>
    <p:sldId xmlns:r="http://schemas.openxmlformats.org/officeDocument/2006/relationships" id="268" r:id="Rcf6c8912788c4b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8e1ff79174723" /><Relationship Type="http://schemas.openxmlformats.org/officeDocument/2006/relationships/slideMaster" Target="/ppt/slideMasters/slideMaster1.xml" Id="R92b98b7c86214bc2" /><Relationship Type="http://schemas.openxmlformats.org/officeDocument/2006/relationships/notesMaster" Target="/ppt/notesMasters/notesMaster1.xml" Id="Rbb5121e99326472e" /><Relationship Type="http://schemas.openxmlformats.org/officeDocument/2006/relationships/presProps" Target="/ppt/presProps.xml" Id="R95ad8f29d62e49ba" /><Relationship Type="http://schemas.openxmlformats.org/officeDocument/2006/relationships/tableStyles" Target="/ppt/tableStyles.xml" Id="Ree8758ffff2a4f81" /><Relationship Type="http://schemas.openxmlformats.org/officeDocument/2006/relationships/slide" Target="/ppt/slides/slide1.xml" Id="R05a8846ac8c94acf" /><Relationship Type="http://schemas.openxmlformats.org/officeDocument/2006/relationships/slide" Target="/ppt/slides/slide2.xml" Id="R9369505b44d94701" /><Relationship Type="http://schemas.openxmlformats.org/officeDocument/2006/relationships/slide" Target="/ppt/slides/slide3.xml" Id="R08fdab59c74d421e" /><Relationship Type="http://schemas.openxmlformats.org/officeDocument/2006/relationships/slide" Target="/ppt/slides/slide4.xml" Id="R85c948cbddc84957" /><Relationship Type="http://schemas.openxmlformats.org/officeDocument/2006/relationships/slide" Target="/ppt/slides/slide5.xml" Id="R6d06f30c448d4505" /><Relationship Type="http://schemas.openxmlformats.org/officeDocument/2006/relationships/slide" Target="/ppt/slides/slide6.xml" Id="R3e8909b156794d61" /><Relationship Type="http://schemas.openxmlformats.org/officeDocument/2006/relationships/slide" Target="/ppt/slides/slide7.xml" Id="R5237bce53da24e7d" /><Relationship Type="http://schemas.openxmlformats.org/officeDocument/2006/relationships/slide" Target="/ppt/slides/slide8.xml" Id="R57ae8288be7e4287" /><Relationship Type="http://schemas.openxmlformats.org/officeDocument/2006/relationships/slide" Target="/ppt/slides/slide9.xml" Id="Rc7985c2d0b8e4666" /><Relationship Type="http://schemas.openxmlformats.org/officeDocument/2006/relationships/slide" Target="/ppt/slides/slide10.xml" Id="R0fa7f718dac74f5e" /><Relationship Type="http://schemas.openxmlformats.org/officeDocument/2006/relationships/slide" Target="/ppt/slides/slide11.xml" Id="Ra92968a02b5d4ecb" /><Relationship Type="http://schemas.openxmlformats.org/officeDocument/2006/relationships/slide" Target="/ppt/slides/slide12.xml" Id="R25a0c151db22451b" /><Relationship Type="http://schemas.openxmlformats.org/officeDocument/2006/relationships/slide" Target="/ppt/slides/slide13.xml" Id="Rcf6c8912788c4b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9c380966eb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80a60d8544463" /><Relationship Type="http://schemas.openxmlformats.org/officeDocument/2006/relationships/notesMaster" Target="/ppt/notesMasters/notesMaster1.xml" Id="Rc191b907759c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439ef90f354ccc" /><Relationship Type="http://schemas.openxmlformats.org/officeDocument/2006/relationships/notesMaster" Target="/ppt/notesMasters/notesMaster1.xml" Id="R412828eff17e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4abae22a544a0" /><Relationship Type="http://schemas.openxmlformats.org/officeDocument/2006/relationships/notesMaster" Target="/ppt/notesMasters/notesMaster1.xml" Id="R092aa32468c7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a209a5d0eb493a" /><Relationship Type="http://schemas.openxmlformats.org/officeDocument/2006/relationships/notesMaster" Target="/ppt/notesMasters/notesMaster1.xml" Id="R93816ff1d23c45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f4bfe516944970" /><Relationship Type="http://schemas.openxmlformats.org/officeDocument/2006/relationships/notesMaster" Target="/ppt/notesMasters/notesMaster1.xml" Id="R0895c4ea6725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bacae9238b4148" /><Relationship Type="http://schemas.openxmlformats.org/officeDocument/2006/relationships/notesMaster" Target="/ppt/notesMasters/notesMaster1.xml" Id="R0382ceab4a9546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ca7857c70c492c" /><Relationship Type="http://schemas.openxmlformats.org/officeDocument/2006/relationships/notesMaster" Target="/ppt/notesMasters/notesMaster1.xml" Id="R1a245395187141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a09f02eddb4dfb" /><Relationship Type="http://schemas.openxmlformats.org/officeDocument/2006/relationships/notesMaster" Target="/ppt/notesMasters/notesMaster1.xml" Id="R48a9473d4102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3938ea8f474bb0" /><Relationship Type="http://schemas.openxmlformats.org/officeDocument/2006/relationships/notesMaster" Target="/ppt/notesMasters/notesMaster1.xml" Id="R89c010d39df84c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5ed2d944254c75" /><Relationship Type="http://schemas.openxmlformats.org/officeDocument/2006/relationships/notesMaster" Target="/ppt/notesMasters/notesMaster1.xml" Id="Rabdb936cc45045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f9eece033c49fa" /><Relationship Type="http://schemas.openxmlformats.org/officeDocument/2006/relationships/notesMaster" Target="/ppt/notesMasters/notesMaster1.xml" Id="R56eafef381174b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f6da8dabd745f1" /><Relationship Type="http://schemas.openxmlformats.org/officeDocument/2006/relationships/notesMaster" Target="/ppt/notesMasters/notesMaster1.xml" Id="R0971fbfa05f64c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de121f47664954" /><Relationship Type="http://schemas.openxmlformats.org/officeDocument/2006/relationships/notesMaster" Target="/ppt/notesMasters/notesMaster1.xml" Id="Rcadefa6c04ab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1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2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3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4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5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6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7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8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9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10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11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12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Financial_Plan.xlsx; Financial_Plan.md; Market_Research.md. Slide 13 contains projections and planning assumptions where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5869df95b49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492707c64496d" /><Relationship Type="http://schemas.openxmlformats.org/officeDocument/2006/relationships/slideLayout" Target="/ppt/slideLayouts/slideLayout1.xml" Id="R127867b5bdc04c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867b5bdc04c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0165257754bcc" /><Relationship Type="http://schemas.openxmlformats.org/officeDocument/2006/relationships/notesSlide" Target="/ppt/notesSlides/notesSlide1.xml" Id="R620094a3ce9342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c6c887675483f" /><Relationship Type="http://schemas.openxmlformats.org/officeDocument/2006/relationships/notesSlide" Target="/ppt/notesSlides/notesSlide2.xml" Id="R967a3885d4f74a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943401d804d09" /><Relationship Type="http://schemas.openxmlformats.org/officeDocument/2006/relationships/notesSlide" Target="/ppt/notesSlides/notesSlide3.xml" Id="Rf2672159ce8946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9bf9f21ef44d2" /><Relationship Type="http://schemas.openxmlformats.org/officeDocument/2006/relationships/notesSlide" Target="/ppt/notesSlides/notesSlide4.xml" Id="Rafd7454acc22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abf08640240d2" /><Relationship Type="http://schemas.openxmlformats.org/officeDocument/2006/relationships/notesSlide" Target="/ppt/notesSlides/notesSlide5.xml" Id="R6af3324f1d32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0aa55ce8c4de1" /><Relationship Type="http://schemas.openxmlformats.org/officeDocument/2006/relationships/notesSlide" Target="/ppt/notesSlides/notesSlide6.xml" Id="R4a53a12592c447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3bbe1a9f44c6" /><Relationship Type="http://schemas.openxmlformats.org/officeDocument/2006/relationships/notesSlide" Target="/ppt/notesSlides/notesSlide7.xml" Id="Rc3d3f5e42f4b4b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ddae436da414f" /><Relationship Type="http://schemas.openxmlformats.org/officeDocument/2006/relationships/notesSlide" Target="/ppt/notesSlides/notesSlide8.xml" Id="R8fe05d274310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0b1fb4e4d4979" /><Relationship Type="http://schemas.openxmlformats.org/officeDocument/2006/relationships/notesSlide" Target="/ppt/notesSlides/notesSlide9.xml" Id="R4998310c4a164f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a770f43f54417" /><Relationship Type="http://schemas.openxmlformats.org/officeDocument/2006/relationships/notesSlide" Target="/ppt/notesSlides/notesSlide10.xml" Id="Raad5ed9d772f43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082f28f16437b" /><Relationship Type="http://schemas.openxmlformats.org/officeDocument/2006/relationships/notesSlide" Target="/ppt/notesSlides/notesSlide11.xml" Id="R39fa2829d0cf4b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82a879c7a472e" /><Relationship Type="http://schemas.openxmlformats.org/officeDocument/2006/relationships/notesSlide" Target="/ppt/notesSlides/notesSlide12.xml" Id="R9a7ab020fca24b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4ea6d189a4326" /><Relationship Type="http://schemas.openxmlformats.org/officeDocument/2006/relationships/notesSlide" Target="/ppt/notesSlides/notesSlide13.xml" Id="R49bc0e1b9ec440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9B27E-3947-447C-B8D6-5740DB4B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MONOVELLA |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0E55A-3FBD-4F51-AA23-DDA7658B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One connected care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3EE97-0D02-450E-9949-367D2A7F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A self-service marketplace for verified GP and gynecology care. Monovella keeps the consultation, next clinical action, and result return in one permission-aware Care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80920-1031-46E9-B9DE-D7617F8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28F09-308E-4751-97C3-C099AFA9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₦18.9m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pre-seed 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FAC5F-CEEB-4B2A-AE9E-75FA6DF6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September 2026 | All financial figures are projections, not current revenue.</a:t>
            </a:r>
          </a:p>
        </p:txBody>
      </p:sp>
    </p:spTree>
    <p:extLst>
      <p:ext uri="{BB962C8B-B14F-4D97-AF65-F5344CB8AC3E}">
        <p14:creationId xmlns:p14="http://schemas.microsoft.com/office/powerpoint/2010/main" val="1829107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E3BA6-2829-4F62-B7B9-39E072B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7286D-DEDA-4DAB-962D-C300BED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Access fails between providers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75258-33FC-4EE2-817A-82621CD5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Working adults can find a specialist and still lose days to queues, referral handoffs, repeated explanations, uncertain payment, and chasing laboratory results by phone. Cherish is an anonymised composite, not a testimonial.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F4188-DF6A-4F5C-8040-D8B9188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EB977-825D-4A24-A6F6-9628BB7A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The specialist exists.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The handoff fails.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32AA5-1F56-428B-83E4-1D96676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The patient, not the system, coordinates the journey today.</a:t>
            </a:r>
          </a:p>
        </p:txBody>
      </p:sp>
    </p:spTree>
    <p:extLst>
      <p:ext uri="{BB962C8B-B14F-4D97-AF65-F5344CB8AC3E}">
        <p14:creationId xmlns:p14="http://schemas.microsoft.com/office/powerpoint/2010/main" val="101549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D6074-0373-4624-BE86-38D481B1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CFB38-505E-44BC-946A-8CB53B8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product connects the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ADEF8-195D-4A48-AD32-75B1F7B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Patients find a verified provider, book, pay, consult, receive a Care Plan, book a laboratory test, and receive the result in the same journey as the ordering specialist. Pharmacy fulfilment remains partner-gated.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6C98-1A08-450C-8554-83719DC3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20ED7-4A9D-42AA-9092-1AC50A4E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Patient-owned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care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2DD9D-BA4F-4AC2-8802-665C85A8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Product scope is subject to clinical governance, consent, and partner-operating gates.</a:t>
            </a:r>
          </a:p>
        </p:txBody>
      </p:sp>
    </p:spTree>
    <p:extLst>
      <p:ext uri="{BB962C8B-B14F-4D97-AF65-F5344CB8AC3E}">
        <p14:creationId xmlns:p14="http://schemas.microsoft.com/office/powerpoint/2010/main" val="1268721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4329E-97DC-437C-9234-656F39B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CURRENT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120CB-6425-47F9-9DFE-CCFA69D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Evidence is early and revenue is projected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490CC-6A02-4CFA-BC2D-F123EBD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team has a built product and three paid manually coordinated care journeys. Monovella has no live platform revenue, signed patient volume, or contracted provider capacity.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7F0DF-747B-47FD-BCDB-C64DFD9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0A6B-1589-4F70-926E-DD9866DC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No live revenue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DCA51-13BE-40B0-A3EE-00B042A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The pitch presents a modelled path to company profit, not traction disguised as revenue.</a:t>
            </a:r>
          </a:p>
        </p:txBody>
      </p:sp>
    </p:spTree>
    <p:extLst>
      <p:ext uri="{BB962C8B-B14F-4D97-AF65-F5344CB8AC3E}">
        <p14:creationId xmlns:p14="http://schemas.microsoft.com/office/powerpoint/2010/main" val="950625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908B-7948-45C0-9372-BBD67C6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B6029-652D-45AA-AD5C-C5AE8B47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Consultation commissions create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4526B-B810-493F-A59B-32068937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Patients pay provider fee X plus a disclosed commission. Providers receive X in full. At the 20% planning case, Monovella retains ₦720 per GP consultation and ₦1,800 per gynecology consultation after modelled payment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1FA51-C912-4C2F-926E-47A7BCB6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00113-0E6A-4891-A0C7-5055B6C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₦670.01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contribution / consult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59BBD-99EE-4D69-8595-0FDF8DA7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Laboratory and pharmacy revenue are excluded until attachment, basket, refund, and payout data exists.</a:t>
            </a:r>
          </a:p>
        </p:txBody>
      </p:sp>
    </p:spTree>
    <p:extLst>
      <p:ext uri="{BB962C8B-B14F-4D97-AF65-F5344CB8AC3E}">
        <p14:creationId xmlns:p14="http://schemas.microsoft.com/office/powerpoint/2010/main" val="149387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4F75-A595-4F24-AA06-2490C23B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CAPITAL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FB2F6-AFBF-4FFF-BEBA-4B5090BE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ask funds validation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55B29-E894-4DB8-A54B-4DC96E72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₦18.9m ask funds 12 months of product, operations, governance, onboarding, acquisition tests, and support. Year 1 validates conversion, attendance, availability, result return, and cost to 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4E333-9084-4DF5-846C-29A7267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6A0AD-7948-4201-AEF7-F137897A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Year 1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1,821 projected consultations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12CE4-EAE9-461F-89EE-43C8622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The initial ask does not claim to fund all Year-2 operating costs.</a:t>
            </a:r>
          </a:p>
        </p:txBody>
      </p:sp>
    </p:spTree>
    <p:extLst>
      <p:ext uri="{BB962C8B-B14F-4D97-AF65-F5344CB8AC3E}">
        <p14:creationId xmlns:p14="http://schemas.microsoft.com/office/powerpoint/2010/main" val="651749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AB0F-348F-42F3-BD75-1760D1CD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24-MONTH PROJECTION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F31DA-ECC9-4C4A-A3CE-32214323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Year 2 creates the company-profit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13F1E-431D-4036-AA56-9434D8D0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Year-2 scale case uses the same 20% unit economics and existing scale-cost assumption. Contribution first covers the Year-1 validation loss and Year-2 operating costs, then reaches the company-profit target.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10713-6782-4BB6-8053-BEB32BD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96672-2A94-48C5-9FA3-1B07108D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₦18.9m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cumulative pre-tax company profit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9851B-F86C-45BD-BB93-6221416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Company profit is not a dividend, investor payout, or guaranteed return.</a:t>
            </a:r>
          </a:p>
        </p:txBody>
      </p:sp>
    </p:spTree>
    <p:extLst>
      <p:ext uri="{BB962C8B-B14F-4D97-AF65-F5344CB8AC3E}">
        <p14:creationId xmlns:p14="http://schemas.microsoft.com/office/powerpoint/2010/main" val="1271383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F50A2-4C18-4BC7-9DAF-D1179DB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PROFIT-REQUIRED SOM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B396C-0C99-495A-8682-C4E167C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SOM is the consultation volume required for profit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9D2E1-387A-4BEB-B3B7-BFC9ECF3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Year-2 SOM is calculated as fixed operating cost plus the Year-1 loss plus the ₦18.9m target profit, divided by contribution per consultation. It is not current demand, market share, or a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FA657-7CB2-4ACB-A002-7BAE8D41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1684C-4F14-49B9-8F81-135F1276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204,707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consultations / year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17,059 / month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81E48-FDF4-4270-850B-5E8E1DA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Formula-driven in Financial_Plan.xlsx. The 1,821 Year-1 validation forecast is not SOM.</a:t>
            </a:r>
          </a:p>
        </p:txBody>
      </p:sp>
    </p:spTree>
    <p:extLst>
      <p:ext uri="{BB962C8B-B14F-4D97-AF65-F5344CB8AC3E}">
        <p14:creationId xmlns:p14="http://schemas.microsoft.com/office/powerpoint/2010/main" val="1106656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5044E-3455-4A77-9C98-C2EE4627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BOTTOM-UP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0D8BD-11E8-4FA8-9477-4740A07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SAM and TAM start with provider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1615F-BCF0-4E3D-B52D-9B6A1342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SAM uses Lagos, Ogun, and FCT medical-doctor bases. TAM uses the national base. Both apply the mentor-provided GP and gynecology capacity ranges and a visible 5% Monovella-available-capacity assumption.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E9465-EBFA-44AA-AB8F-C1AB05A6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5B0CF-58D9-400C-B383-48194C18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Capacity bands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not demand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877AF-7FE4-42CA-B3C4-4BB398E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The current government report has no GP/Gyn split. The provisional allocation must be replaced with a workforce-registry export.</a:t>
            </a:r>
          </a:p>
        </p:txBody>
      </p:sp>
    </p:spTree>
    <p:extLst>
      <p:ext uri="{BB962C8B-B14F-4D97-AF65-F5344CB8AC3E}">
        <p14:creationId xmlns:p14="http://schemas.microsoft.com/office/powerpoint/2010/main" val="1413592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AFA92-9897-4C5F-B142-F379794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GO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650EA-BE79-4D48-8E0E-BA054E79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Provider availability becomes a scale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19A94-3A39-4B44-B74C-9DA38DA6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validation plan measures provider availability, patient conversion, payment success, attendance, next-action completion, result-return reliability, and support load. Provider referrals and community channels remain hypotheses until observed.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92E4A-D276-4F9B-99C1-A006AE2C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D7BEE-7D78-498E-8A7B-4C06CD4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Earn capacity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and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9C5CE-DCE6-47B6-AC53-CAB2B79E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No advisory relationship is represented as a referral contract or institutional endorsement.</a:t>
            </a:r>
          </a:p>
        </p:txBody>
      </p:sp>
    </p:spTree>
    <p:extLst>
      <p:ext uri="{BB962C8B-B14F-4D97-AF65-F5344CB8AC3E}">
        <p14:creationId xmlns:p14="http://schemas.microsoft.com/office/powerpoint/2010/main" val="905314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C0BE1-B1A0-4E6C-9E76-A25E6328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AAFE1-D2F1-4FE5-BA79-FD6C4EAB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category is active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58E8D-B3A6-471A-892E-7DFC2887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Hospitals, referrals, WhatsApp, calls, paper records, broad telehealth providers, and specialist platforms already solve parts of care. Monovella must earn use by connecting each accountable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D7ADF-0A9B-4D4F-9AA5-571B7FBE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D8C2B-5B2D-444F-975D-CF65E7F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Connected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result return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4C8E2-8B9E-416D-A60D-180CC35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The claim is a product hypothesis that requires evidence from live journeys.</a:t>
            </a:r>
          </a:p>
        </p:txBody>
      </p:sp>
    </p:spTree>
    <p:extLst>
      <p:ext uri="{BB962C8B-B14F-4D97-AF65-F5344CB8AC3E}">
        <p14:creationId xmlns:p14="http://schemas.microsoft.com/office/powerpoint/2010/main" val="1110251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A089C-6370-4A6F-A020-C338663B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20EBF-5543-4144-A851-BA54B69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A team for product and operating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232F1-8058-40F7-AF13-B30103C2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Abdulazeez Jimoh leads technology and product. Halimat Musa leads operations and partnerships. Dr Hameedat Omoyele-Abdussalam leads clinical workflow. Advisers inform operations, quality, and security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B7E77-CEDA-4188-BAC1-A07CDC81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74DCE-F527-4BFB-8FF4-2590F211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Build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validate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A3762-53C9-4182-9583-0730A020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Advisory work is not clinical sign-off, institutional endorsement, or contracted patient volume.</a:t>
            </a:r>
          </a:p>
        </p:txBody>
      </p:sp>
    </p:spTree>
    <p:extLst>
      <p:ext uri="{BB962C8B-B14F-4D97-AF65-F5344CB8AC3E}">
        <p14:creationId xmlns:p14="http://schemas.microsoft.com/office/powerpoint/2010/main" val="1742347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AC554-2534-495B-BB5F-DFD8EA37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INVESTMENT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F28DA-0CF1-4E65-9689-4BC29C9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₦18.9m to validate a profitable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ABFA5-F830-4D75-ADAC-8CDAD1BC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11D18"/>
                </a:solidFill>
                <a:latin typeface="Bitstream Charter"/>
                <a:ea typeface="Bitstream Charter"/>
                <a:cs typeface="Bitstream Charter"/>
              </a:rPr>
              <a:t>The raise funds the evidence required to decide whether Monovella can earn the Month-24 company-profit case. The next operating decision depends on observed demand, capacity, cost, safety, and support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3E504-DFB6-4D5A-BB07-51123E85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E8E1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917F3-6F53-4233-8373-D5C313CA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Ask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₦18.9m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Target</a:t>
            </a:r>
          </a:p>
          <a:p xmlns:a="http://schemas.openxmlformats.org/drawingml/2006/main">
            <a:pPr>
              <a:def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55953"/>
                </a:solidFill>
                <a:latin typeface="Bitstream Charter"/>
                <a:ea typeface="Bitstream Charter"/>
                <a:cs typeface="Bitstream Charter"/>
              </a:rPr>
              <a:t>₦18.9m company profit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E23A4-2FCA-4282-AE06-1BDD732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B6259"/>
                </a:solidFill>
                <a:latin typeface="Bitstream Charter"/>
                <a:ea typeface="Bitstream Charter"/>
                <a:cs typeface="Bitstream Charter"/>
              </a:rPr>
              <a:t>Financial Plan and Market Research contain the assumptions, formulas, capacity limits, and sources.</a:t>
            </a:r>
          </a:p>
        </p:txBody>
      </p:sp>
    </p:spTree>
    <p:extLst>
      <p:ext uri="{BB962C8B-B14F-4D97-AF65-F5344CB8AC3E}">
        <p14:creationId xmlns:p14="http://schemas.microsoft.com/office/powerpoint/2010/main" val="2005022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2026-09-13T12:39:45.1270000Z</dcterms:created>
  <dcterms:modified xsi:type="dcterms:W3CDTF">2026-09-13T12:39:45.1270000Z</dcterms:modified>
</coreProperties>
</file>